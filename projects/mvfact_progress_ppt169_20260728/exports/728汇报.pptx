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8" r:id="rId10"/>
    <p:sldId id="263" r:id="rId11"/>
    <p:sldId id="264" r:id="rId12"/>
    <p:sldId id="265" r:id="rId13"/>
    <p:sldId id="267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7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各位老师好，我是陈绮颖。今天汇报我的本科毕业设计阶段性成果——增强视觉感知的ACT算法在力控透明杯抓取任务中的应用。指导教师是李德平老师。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本次汇报分为四个部分：首先回顾研究背景和实验平台，然后重点介绍模型架构的创新，接着说明实验计划，最后给出预期贡献和时间线。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透明杯力控抓取面临三个核心挑战。第一，视觉感知困难——透明杯在RGB图像中几乎不可见。第二，力控接触判断——视觉无法判断夹爪是否接触杯壁。第三，泛化能力——训练集位置固定导致测试时过拟合。这三重挑战驱动了我们的方法设计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我们搭建了完整的物理实验平台。使用LeRobot SO-ARM101机械臂，配备两个RGB摄像头——上方全局视角和腕部近景视角。完成了两大类数据集共180个episode的远程操作采集，存储在LeRobot标准格式中。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采用双轨标注策略：检测标注用CVAT 1.1半自动标注，导出为XML格式。分割标注用SAM 2离线生成——从XML提取首帧bbox作为prompt，逐帧传播后高斯模糊，保存为NPZ文件。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这一页重点展开我们的核心创新。透明杯在RGB中几乎看不见——FCOS的稀疏bbox监督只能定位，无法刻画边缘。Mask Decoder用SAM2生成的逐像素mask作为训练标签，通过密集的L1 loss让Backbone学会区分透明杯和背景。这是FCOS和Mask Decoder的互补关系。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这一页解释一个技术细节——为什么FCOS是三路并行而Mask Decoder是串行融合？根本原因是输出性质不同：FCOS输出稀疏的4个坐标，三层可以独立预测；Mask Decoder必须输出一张密集的480x640图，三层必须商量出一个统一结果。P2提供边缘细节，P4提供语义锚点。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我们设计了6组核心实验，覆盖2个数据集乘以3个模型版本。所有实验使用统一的训练参数——120,000步、batch=8、chunk=100。评价指标仿照论文设计，分为四阶段成功率。预了6组对比维度来验证每个模块的独立贡献。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实验数据决定下一步方向，不靠直觉。如果E3/E6已经达到满意成功率，创新2/3/4留作未来工作。如果主要失败是接触延迟，立刻启动创新2的Visual-Force Fusion。如果是抓取力度不定，启动创新3的Hybrid Action Head。这是数据驱动的优先级决策框架。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以上就是我的汇报。感谢各位老师的耐心聆听，欢迎提问和建议。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478280" y="1706880"/>
            <a:ext cx="1854200" cy="553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ACT算法</a:t>
            </a:r>
            <a:endParaRPr lang="zh-CN" sz="36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8280" y="2373630"/>
            <a:ext cx="3200400" cy="553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力控透明杯抓取</a:t>
            </a:r>
            <a:endParaRPr lang="zh-CN" sz="36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1524000" y="3000375"/>
            <a:ext cx="1143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03045" y="3917632"/>
            <a:ext cx="146685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阶段性成果汇报</a:t>
            </a:r>
            <a:endParaRPr lang="zh-CN" sz="16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470535"/>
            <a:ext cx="82467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目录</a:t>
            </a:r>
            <a:endParaRPr lang="zh-CN" sz="27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952500"/>
            <a:ext cx="571500" cy="2857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381125"/>
            <a:ext cx="352425" cy="3524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9968" y="145732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10640" y="1424940"/>
            <a:ext cx="23140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研究背景与实验平台</a:t>
            </a:r>
            <a:endParaRPr lang="zh-CN" sz="18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18260" y="1775460"/>
            <a:ext cx="37909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问题定义 / 硬件搭建 / 数据采集 / CVAT + SAM2 标注</a:t>
            </a:r>
            <a:endParaRPr lang="zh-CN" sz="12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762000" y="2476500"/>
            <a:ext cx="352425" cy="3524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9968" y="25527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0640" y="2520315"/>
            <a:ext cx="296928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模型架构创新：M-VF-ACT</a:t>
            </a:r>
            <a:endParaRPr lang="zh-CN" sz="18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18260" y="2870835"/>
            <a:ext cx="49110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检测分支(FCOS) / Mask-Guided Perception / 特征融合 / 数据增强</a:t>
            </a:r>
            <a:endParaRPr lang="zh-CN" sz="12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762000" y="3571875"/>
            <a:ext cx="352425" cy="3524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9968" y="364807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10640" y="3615690"/>
            <a:ext cx="23140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实验计划与横向对比</a:t>
            </a:r>
            <a:endParaRPr lang="zh-CN" sz="18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18260" y="3966210"/>
            <a:ext cx="32308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6组核心实验 / 消融实验 / 评价指标 / 决策门</a:t>
            </a:r>
            <a:endParaRPr lang="zh-CN" sz="12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762000" y="4667250"/>
            <a:ext cx="352425" cy="35242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9968" y="474345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10640" y="4711065"/>
            <a:ext cx="20619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预期贡献与时间线</a:t>
            </a:r>
            <a:endParaRPr lang="zh-CN" sz="18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18260" y="5061585"/>
            <a:ext cx="27988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创新路线图 / 阶段性产出 / 下一步行动</a:t>
            </a:r>
            <a:endParaRPr lang="zh-CN" sz="12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7620000" y="1381125"/>
            <a:ext cx="3810000" cy="1619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985760" y="1584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项目概况</a:t>
            </a:r>
            <a:endParaRPr lang="zh-CN" sz="12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986712" y="1897856"/>
            <a:ext cx="21438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数据集：2大类, 每类90episode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86712" y="2164556"/>
            <a:ext cx="20313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模型：ACTDet (58M params)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86712" y="2431256"/>
            <a:ext cx="22638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训练：120,000 steps / batch=8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986712" y="2697956"/>
            <a:ext cx="2076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代码：~1,600 lines / 13 files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50570" y="647509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128143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327660"/>
            <a:ext cx="514350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透明杯力控抓取面临三重核心挑战</a:t>
            </a:r>
            <a:endParaRPr lang="zh-CN" sz="27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809625"/>
            <a:ext cx="571500" cy="2857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238250"/>
            <a:ext cx="3333750" cy="24765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238250"/>
            <a:ext cx="3333750" cy="381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26795" y="1441132"/>
            <a:ext cx="23175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挑战 1：视觉感知困难</a:t>
            </a:r>
            <a:endParaRPr lang="zh-CN" sz="165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2510" y="1870710"/>
            <a:ext cx="26308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透明塑料杯在 RGB 图像中几乎不可见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2510" y="2156460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杯壁与灰色桌面融为一体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2510" y="244221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边缘仅有微弱折射亮线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2510" y="2727960"/>
            <a:ext cx="16706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 CNN 特征提取困难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4415" y="322040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需要增强视觉感知能力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4429125" y="1238250"/>
            <a:ext cx="3333750" cy="24765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429125" y="1238250"/>
            <a:ext cx="3333750" cy="381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93920" y="1441132"/>
            <a:ext cx="23175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挑战 2：力控接触判断</a:t>
            </a:r>
            <a:endParaRPr lang="zh-CN" sz="165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699635" y="1870710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视觉无法判断夹爪是否接触杯壁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699635" y="2156460"/>
            <a:ext cx="14566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接触过</a:t>
            </a:r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轻 → 杯子滑落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699635" y="2442210"/>
            <a:ext cx="14946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接触过度 → 杯子捏碎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699635" y="272796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不同水量需要不同力度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701540" y="3220402"/>
            <a:ext cx="1622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需要力觉-视觉联合感知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8096250" y="1238250"/>
            <a:ext cx="3333750" cy="24765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096250" y="1238250"/>
            <a:ext cx="3333750" cy="381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61045" y="1440815"/>
            <a:ext cx="2902585" cy="5702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挑战 3：位置泛化能力</a:t>
            </a:r>
            <a:endParaRPr lang="zh-CN" sz="165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/>
            <a:r>
              <a:rPr lang="zh-CN" sz="165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与机械臂动作</a:t>
            </a:r>
            <a:r>
              <a:rPr lang="zh-CN" sz="165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流畅性</a:t>
            </a:r>
            <a:endParaRPr lang="zh-CN" sz="165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361045" y="2011045"/>
            <a:ext cx="22947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训练集位置固定 → 测试时过拟合</a:t>
            </a:r>
            <a:endParaRPr lang="zh-CN" sz="12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361045" y="3322002"/>
            <a:ext cx="20429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需要数据增强 + 检测Mask引导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727710" y="5979795"/>
            <a:ext cx="10668000" cy="762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33120" y="6137275"/>
            <a:ext cx="1021524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核心思路：在原始 ACT 基础上，通过数据增强 + 目标检测 + Mask 引导感知，提升模型对透明物体的视觉感知和泛化能力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93470" y="6469380"/>
            <a:ext cx="51111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3C4F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基于论文"增强视觉感知的ACT算法在机械臂装配任务研究"的改进与扩展</a:t>
            </a:r>
            <a:endParaRPr lang="zh-CN" sz="1200" dirty="0">
              <a:solidFill>
                <a:srgbClr val="A3C4F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762000" y="523875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082528" y="552259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780790"/>
            <a:ext cx="3171190" cy="2132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37465" y="174942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297180"/>
            <a:ext cx="95948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已搭建完整的真实物理实验平台，完成 180 个遥操作 episode 的数据采集</a:t>
            </a:r>
            <a:endParaRPr lang="zh-CN" sz="21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4855" y="806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硬件配置</a:t>
            </a:r>
            <a:endParaRPr lang="zh-CN" sz="135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762000" y="1095375"/>
            <a:ext cx="5143500" cy="2000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2510" y="128016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机械臂</a:t>
            </a:r>
            <a:endParaRPr lang="zh-CN" sz="12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33462" y="1535906"/>
            <a:ext cx="30814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LeRobot SO-ARM101 单臂 (主动臂 + 从动臂)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4415" y="1772602"/>
            <a:ext cx="2715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自由度 + 夹爪 / UART 通信 / 3D 打印主体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2510" y="21374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摄像头</a:t>
            </a:r>
            <a:endParaRPr lang="zh-CN" sz="12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3462" y="2393156"/>
            <a:ext cx="23538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 x RGB 摄像头 (640x480, 30fps)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4415" y="2629852"/>
            <a:ext cx="34711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Top (全局视角, ~45deg) + Wrist (腕部近景, ~30deg)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4415" y="2915602"/>
            <a:ext cx="31350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操作台: 60x60cm 硅胶垫 / 工件: 半满透明塑料杯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59855" y="80676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数据集规格</a:t>
            </a:r>
            <a:endParaRPr lang="zh-CN" sz="135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477000" y="1095375"/>
            <a:ext cx="2476500" cy="9525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49415" y="1239202"/>
            <a:ext cx="1181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数据集 A (无力感)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41795" y="142208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90 episode</a:t>
            </a:r>
            <a:endParaRPr lang="zh-CN" sz="165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14148" y="1757204"/>
            <a:ext cx="27746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state=6dim / kind1(固定50) + kind2(随机40)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9144000" y="1095375"/>
            <a:ext cx="2286000" cy="9525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416415" y="1239202"/>
            <a:ext cx="1181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数据集 B (有力感)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408795" y="142208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90 episode</a:t>
            </a:r>
            <a:endParaRPr lang="zh-CN" sz="165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143683" y="1757204"/>
            <a:ext cx="2709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state=9dim / +load +curr +master_gripper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2320" y="502062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数据采集流程</a:t>
            </a:r>
            <a:endParaRPr lang="zh-CN" sz="135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799465" y="5356860"/>
            <a:ext cx="1905000" cy="5715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99058" y="551307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遥操作示教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14742" y="572785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3C4F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人控主动臂 → 从动臂跟随</a:t>
            </a:r>
            <a:endParaRPr lang="zh-CN" sz="975" dirty="0">
              <a:solidFill>
                <a:srgbClr val="A3C4F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963545" y="5415915"/>
            <a:ext cx="207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2100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3371215" y="5356860"/>
            <a:ext cx="1905000" cy="5715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770808" y="551307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多模态记录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384967" y="5727859"/>
            <a:ext cx="18774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3C4F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双视角视频 + 关节/力感/时间戳</a:t>
            </a:r>
            <a:endParaRPr lang="zh-CN" sz="975" dirty="0">
              <a:solidFill>
                <a:srgbClr val="A3C4F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535295" y="5415915"/>
            <a:ext cx="207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2100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5942965" y="5356860"/>
            <a:ext cx="1905000" cy="5715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077925" y="5513070"/>
            <a:ext cx="16350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 LeRobot 格式存储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158242" y="572785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3C4F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Parquet + MP4 分层目录</a:t>
            </a:r>
            <a:endParaRPr lang="zh-CN" sz="975" dirty="0">
              <a:solidFill>
                <a:srgbClr val="A3C4F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107045" y="5415915"/>
            <a:ext cx="207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2100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8514715" y="5356860"/>
            <a:ext cx="1905000" cy="5715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817696" y="5513070"/>
            <a:ext cx="12990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4. 标注 + 预处理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765746" y="5727859"/>
            <a:ext cx="14029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3C4F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CVAT XML + SAM2 Mask</a:t>
            </a:r>
            <a:endParaRPr lang="zh-CN" sz="975" dirty="0">
              <a:solidFill>
                <a:srgbClr val="A3C4F3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762000" y="6048375"/>
            <a:ext cx="9525" cy="28575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082528" y="614172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7150" y="2251075"/>
            <a:ext cx="5020945" cy="244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297180"/>
            <a:ext cx="1099439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采用 CVAT 半自动标注（检测分支） + SAM 2 离线生成 Mask（</a:t>
            </a:r>
            <a:r>
              <a:rPr lang="en-US" alt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</a:t>
            </a:r>
            <a:r>
              <a:rPr lang="zh-CN" altLang="en-US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分支</a:t>
            </a:r>
            <a:r>
              <a: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） 的双轨标注策略</a:t>
            </a:r>
            <a:endParaRPr lang="zh-CN" sz="21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4855" y="806768"/>
            <a:ext cx="140208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检测标注 (CVAT）</a:t>
            </a:r>
            <a:endParaRPr lang="zh-CN" sz="135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762000" y="1095375"/>
            <a:ext cx="11430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5108" y="1258252"/>
            <a:ext cx="9367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CVAT 导入视频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76450" y="120967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500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2381250" y="1095375"/>
            <a:ext cx="15240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380821" y="1258252"/>
            <a:ext cx="1524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Interpolation 逐帧标注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076700" y="120967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500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4381500" y="1095375"/>
            <a:ext cx="13335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07862" y="1258252"/>
            <a:ext cx="880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导出 XML 1.1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762000" y="1762125"/>
            <a:ext cx="5143500" cy="11430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3462" y="1926431"/>
            <a:ext cx="27364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类别：cup (单类别) / 分辨率：640x480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3462" y="2164556"/>
            <a:ext cx="35465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视角：Top (全局) + Wrist (腕部) / 双视角独立标注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33462" y="2402681"/>
            <a:ext cx="38390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格式：CVAT 1.1 XML, track 模式, 每 episode 一个 XML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33462" y="2640806"/>
            <a:ext cx="38015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训练加载：LabelLoader 解析 → 内存 cache → O(1) 查表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459855" y="806768"/>
            <a:ext cx="15049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 生成 (SAM 2)</a:t>
            </a:r>
            <a:endParaRPr lang="zh-CN" sz="135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6477000" y="1095375"/>
            <a:ext cx="1238250" cy="4572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77214" y="1258252"/>
            <a:ext cx="1237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XML 提取首帧 bbox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886700" y="120967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500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8191500" y="1095375"/>
            <a:ext cx="1238250" cy="4572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07229" y="125825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SAM 2 视频预测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601200" y="120967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500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9906000" y="1095375"/>
            <a:ext cx="1238250" cy="4572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035730" y="1258252"/>
            <a:ext cx="9787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高斯模糊 + NPZ</a:t>
            </a:r>
            <a:endParaRPr lang="zh-CN" sz="105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6477000" y="1762125"/>
            <a:ext cx="4953000" cy="11430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48462" y="1926431"/>
            <a:ext cx="39965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输入：首帧 bbox prompt (xml 第0帧自动提取) + MP4 视频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748462" y="2164556"/>
            <a:ext cx="50917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输出：episode_{idx:03d}.npz / shape=(718, 480, 640) float32, [0,1]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748462" y="2402681"/>
            <a:ext cx="32464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处理：Gaussian blur sigma=2.0 → 软边界 mask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748462" y="2640806"/>
            <a:ext cx="40940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训练加载：MaskLoader → LRU cache (8epoch) → O(1) 查表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44855" y="31880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双轨标注对比</a:t>
            </a:r>
            <a:endParaRPr lang="zh-CN" sz="135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762000" y="3524250"/>
            <a:ext cx="10668000" cy="3048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34415" y="36014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标注类型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034665" y="36014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工具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939665" y="36014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输出格式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844665" y="36014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粒度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368665" y="36014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用途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762000" y="3829050"/>
            <a:ext cx="10668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34415" y="3887152"/>
            <a:ext cx="10908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检测标注 (bbox)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034665" y="3887152"/>
            <a:ext cx="60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CVAT 1.1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939665" y="3887152"/>
            <a:ext cx="1839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XML (track+interpolation)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844665" y="3887152"/>
            <a:ext cx="10417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稀疏 (4 个坐标)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368665" y="3887152"/>
            <a:ext cx="21339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FCOS Detection Head → 检测损失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762000" y="4095750"/>
            <a:ext cx="10668000" cy="2667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34415" y="415385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分割标注 (mask)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3034665" y="4153852"/>
            <a:ext cx="880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SAM 2 (离线)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4939665" y="4153852"/>
            <a:ext cx="1846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NPZ (718,480,640) float32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844665" y="4153852"/>
            <a:ext cx="922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密集 (每像素)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368665" y="4153852"/>
            <a:ext cx="17628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 Decoder → Mask 损失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762000" y="4667250"/>
            <a:ext cx="10668000" cy="53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33462" y="4783931"/>
            <a:ext cx="19581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SAM 2 生成命令 (Ubuntu):</a:t>
            </a:r>
            <a:endParaRPr lang="zh-CN" sz="1125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415665" y="4792028"/>
            <a:ext cx="62924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56D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python scripts/generate_sam2_masks.py --dataset_root /path/to/dataset --cameras top</a:t>
            </a:r>
            <a:endParaRPr lang="zh-CN" sz="1050" dirty="0">
              <a:solidFill>
                <a:srgbClr val="1A56D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034415" y="5011102"/>
            <a:ext cx="45422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自动从 XML 提取首帧 bbox → SAM2 视频逐帧传播 → 高斯模糊 → save NPZ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762000" y="542925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48665" y="56969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数据集标注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1082528" y="571309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249555"/>
            <a:ext cx="105210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创新1: Mask-Guided Perception — 用逐像素监督教会Backbone"看见"透明物体</a:t>
            </a:r>
            <a:endParaRPr lang="zh-CN" sz="21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6760" y="727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核心问题</a:t>
            </a:r>
            <a:endParaRPr lang="zh-CN" sz="1200" b="1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47712" y="1002506"/>
            <a:ext cx="47391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透明塑料杯在 RGB 中几乎不可见 → 视觉 backbone 需要更强的监督信号</a:t>
            </a:r>
            <a:endParaRPr lang="zh-CN" sz="112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6760" y="1394460"/>
            <a:ext cx="33656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解决方案：Mask Decoder 作为训练辅助监督</a:t>
            </a:r>
            <a:endParaRPr lang="zh-CN" sz="120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762000" y="1762125"/>
            <a:ext cx="1524000" cy="3429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63061" y="18759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FPN: P2/P3/P4</a:t>
            </a:r>
            <a:endParaRPr lang="zh-CN" sz="975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459355" y="18354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350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2857500" y="1619250"/>
            <a:ext cx="1809750" cy="62865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267555" y="1734502"/>
            <a:ext cx="9896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 Decoder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08317" y="1949291"/>
            <a:ext cx="13081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B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P4→P3→P2 逐级上采样融合</a:t>
            </a:r>
            <a:endParaRPr lang="zh-CN" sz="825" dirty="0">
              <a:solidFill>
                <a:srgbClr val="FFB0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023056" y="2101691"/>
            <a:ext cx="14786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B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 480x640 mask, Sigmoid</a:t>
            </a:r>
            <a:endParaRPr lang="zh-CN" sz="825" dirty="0">
              <a:solidFill>
                <a:srgbClr val="FFB0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840605" y="18354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</a:t>
            </a:r>
            <a:endParaRPr lang="zh-CN" sz="1350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5238750" y="1762125"/>
            <a:ext cx="1524000" cy="342900"/>
          </a:xfrm>
          <a:prstGeom prst="rect">
            <a:avLst/>
          </a:prstGeom>
          <a:solidFill>
            <a:srgbClr val="F0F4F8"/>
          </a:solidFill>
          <a:ln w="19050">
            <a:solidFill>
              <a:srgbClr val="E0245E"/>
            </a:solidFill>
            <a:prstDash val="dash"/>
          </a:ln>
        </p:spPr>
      </p:sp>
      <p:sp>
        <p:nvSpPr>
          <p:cNvPr id="17" name="TextBox 17"/>
          <p:cNvSpPr txBox="1"/>
          <p:nvPr/>
        </p:nvSpPr>
        <p:spPr>
          <a:xfrm>
            <a:off x="5270028" y="1875949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 L1 Loss |pred-GT|</a:t>
            </a:r>
            <a:endParaRPr lang="zh-CN" sz="975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6000750" y="2105025"/>
            <a:ext cx="9525" cy="371475"/>
          </a:xfrm>
          <a:custGeom>
            <a:avLst/>
            <a:gdLst/>
            <a:ahLst/>
            <a:cxnLst/>
            <a:rect l="l" t="t" r="r" b="b"/>
            <a:pathLst>
              <a:path w="9525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/>
          <a:ln w="14288">
            <a:solidFill>
              <a:srgbClr val="6B728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238750" y="2476500"/>
            <a:ext cx="1524000" cy="3429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383244" y="2598420"/>
            <a:ext cx="1235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SAM2 GT Mask (.npz)</a:t>
            </a:r>
            <a:endParaRPr lang="zh-CN" sz="90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7239000" y="762000"/>
            <a:ext cx="4191000" cy="2381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09510" y="9372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关键设计</a:t>
            </a:r>
            <a:endParaRPr lang="zh-CN" sz="12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11415" y="1267778"/>
            <a:ext cx="33170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Mask Decoder 和 FCOS 是 FPN 上的并行兄弟节点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02868" y="1494949"/>
            <a:ext cx="33661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两者都是训练辅助监督，通过损失梯度联合塑造 Backbone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511415" y="1791652"/>
            <a:ext cx="25609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逐像素 L1 Loss (mask_weight=1.0)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702868" y="2018824"/>
            <a:ext cx="2956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数值范围与 Action L1 Loss 同量级，无需额外放大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511415" y="2315528"/>
            <a:ext cx="2420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 推理时丢弃，Backbone 已内化感知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702868" y="2542699"/>
            <a:ext cx="33791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 Decoder 不运行 → Backbone 已被像素级梯度"雕刻"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11415" y="2839402"/>
            <a:ext cx="20849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4. mask_cameras 独立视角开关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702868" y="3018949"/>
            <a:ext cx="21570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默认 Top 开 / Wrist 关，可配置切换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735330" y="4297680"/>
            <a:ext cx="3333750" cy="1238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05840" y="4472940"/>
            <a:ext cx="13410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FCOS (稀疏监督)</a:t>
            </a:r>
            <a:endParaRPr lang="zh-CN" sz="120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07745" y="4755832"/>
            <a:ext cx="15808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告诉你"杯子在这个框里"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07745" y="4984432"/>
            <a:ext cx="1958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梯度只在 bbox 中心点附近有效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07745" y="5213032"/>
            <a:ext cx="2007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对透明杯边缘 → 几乎无梯度信号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423410" y="4880610"/>
            <a:ext cx="207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</a:t>
            </a:r>
            <a:endParaRPr lang="zh-CN" sz="2100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4831080" y="4297680"/>
            <a:ext cx="3333750" cy="1238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101590" y="4472940"/>
            <a:ext cx="2038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 Decoder (密集监督)</a:t>
            </a:r>
            <a:endParaRPr lang="zh-CN" sz="120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103495" y="4755832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告诉你"每个像素是不是杯子"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103495" y="4984432"/>
            <a:ext cx="17628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杯壁像素 → 明确的 0/1 梯度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103495" y="5213032"/>
            <a:ext cx="2343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约束 Backbone 学会区分透明物/背景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735330" y="5774055"/>
            <a:ext cx="10668000" cy="28575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21995" y="5946458"/>
            <a:ext cx="74475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两者互补：FCOS 定位杯子区域 → Mask Decoder 精确刻画杯子轮廓 → 推理时 Backbone 同时具备了定位 + 轮廓感知能力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735330" y="639318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21995" y="6613208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Mask-Guided Perception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1055858" y="6629400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220" y="0"/>
            <a:ext cx="8926195" cy="30772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30" y="3077845"/>
            <a:ext cx="8007985" cy="3710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249555"/>
            <a:ext cx="110797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FPN 三路输出：FCOS 并行独立，Mask Decoder 串行融合，源于输出性质的根本差异</a:t>
            </a:r>
            <a:endParaRPr lang="zh-CN" sz="21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4855" y="711518"/>
            <a:ext cx="19812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FCOS Head (并行独立)</a:t>
            </a:r>
            <a:endParaRPr lang="zh-CN" sz="135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762000" y="1047750"/>
            <a:ext cx="952500" cy="3048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11781" y="1150620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P2 (60x80)</a:t>
            </a:r>
            <a:endParaRPr lang="zh-CN" sz="90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2000250" y="1047750"/>
            <a:ext cx="952500" cy="3048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150031" y="1150620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P3 (30x40)</a:t>
            </a:r>
            <a:endParaRPr lang="zh-CN" sz="90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238500" y="1047750"/>
            <a:ext cx="952500" cy="3048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388281" y="1150620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P4 (15x20)</a:t>
            </a:r>
            <a:endParaRPr lang="zh-CN" sz="90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1238250" y="13525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1A56DB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76500" y="13525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1A56DB"/>
            </a:solidFill>
          </a:ln>
        </p:spPr>
      </p:sp>
      <p:sp>
        <p:nvSpPr>
          <p:cNvPr id="14" name="Line 14"/>
          <p:cNvSpPr/>
          <p:nvPr/>
        </p:nvSpPr>
        <p:spPr>
          <a:xfrm>
            <a:off x="3714750" y="13525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1A56D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1619250"/>
            <a:ext cx="1333500" cy="533400"/>
          </a:xfrm>
          <a:prstGeom prst="rect">
            <a:avLst/>
          </a:prstGeom>
          <a:noFill/>
          <a:ln w="19050">
            <a:solidFill>
              <a:srgbClr val="E0245E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932783" y="1712595"/>
            <a:ext cx="610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FCOS Head</a:t>
            </a:r>
            <a:endParaRPr lang="zh-CN" sz="900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66180" y="1890712"/>
            <a:ext cx="744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CLS + REG + CTR</a:t>
            </a:r>
            <a:endParaRPr lang="zh-CN" sz="7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73693" y="2014538"/>
            <a:ext cx="5291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(共享权重)</a:t>
            </a:r>
            <a:endParaRPr lang="zh-CN" sz="7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1809750" y="1619250"/>
            <a:ext cx="1333500" cy="533400"/>
          </a:xfrm>
          <a:prstGeom prst="rect">
            <a:avLst/>
          </a:prstGeom>
          <a:noFill/>
          <a:ln w="19050">
            <a:solidFill>
              <a:srgbClr val="E0245E"/>
            </a:solidFill>
            <a:prstDash val="dash"/>
          </a:ln>
        </p:spPr>
      </p:sp>
      <p:sp>
        <p:nvSpPr>
          <p:cNvPr id="20" name="TextBox 20"/>
          <p:cNvSpPr txBox="1"/>
          <p:nvPr/>
        </p:nvSpPr>
        <p:spPr>
          <a:xfrm>
            <a:off x="2171033" y="1712595"/>
            <a:ext cx="610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FCOS Head</a:t>
            </a:r>
            <a:endParaRPr lang="zh-CN" sz="900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104430" y="1890712"/>
            <a:ext cx="744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CLS + REG + CTR</a:t>
            </a:r>
            <a:endParaRPr lang="zh-CN" sz="7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11943" y="2014538"/>
            <a:ext cx="5291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(共享权重)</a:t>
            </a:r>
            <a:endParaRPr lang="zh-CN" sz="7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3048000" y="1619250"/>
            <a:ext cx="1333500" cy="533400"/>
          </a:xfrm>
          <a:prstGeom prst="rect">
            <a:avLst/>
          </a:prstGeom>
          <a:noFill/>
          <a:ln w="19050">
            <a:solidFill>
              <a:srgbClr val="E0245E"/>
            </a:solidFill>
            <a:prstDash val="dash"/>
          </a:ln>
        </p:spPr>
      </p:sp>
      <p:sp>
        <p:nvSpPr>
          <p:cNvPr id="24" name="TextBox 24"/>
          <p:cNvSpPr txBox="1"/>
          <p:nvPr/>
        </p:nvSpPr>
        <p:spPr>
          <a:xfrm>
            <a:off x="3409283" y="1712595"/>
            <a:ext cx="610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FCOS Head</a:t>
            </a:r>
            <a:endParaRPr lang="zh-CN" sz="900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342680" y="1890712"/>
            <a:ext cx="744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CLS + REG + CTR</a:t>
            </a:r>
            <a:endParaRPr lang="zh-CN" sz="7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450193" y="2014538"/>
            <a:ext cx="5291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(共享权重)</a:t>
            </a:r>
            <a:endParaRPr lang="zh-CN" sz="7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571500" y="2286000"/>
            <a:ext cx="3810000" cy="3429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9644" y="2399824"/>
            <a:ext cx="35937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三层各自算Loss → 求平均 → Detection Loss (Focal+L1+BCE)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9618" y="2847499"/>
            <a:ext cx="347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关键词: 稀疏结构化 / 每层可独立预测 bbox / 三层NMS合并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5048250" y="762000"/>
            <a:ext cx="19050" cy="257175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412105" y="711518"/>
            <a:ext cx="22931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 Decoder (串行融合)</a:t>
            </a:r>
            <a:endParaRPr lang="zh-CN" sz="135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5429250" y="1047750"/>
            <a:ext cx="952500" cy="3048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579031" y="1150620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P4 (15x20)</a:t>
            </a:r>
            <a:endParaRPr lang="zh-CN" sz="90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6667500" y="1047750"/>
            <a:ext cx="952500" cy="3048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817281" y="1150620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P3 (30x40)</a:t>
            </a:r>
            <a:endParaRPr lang="zh-CN" sz="90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7905750" y="1047750"/>
            <a:ext cx="952500" cy="3048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055531" y="1150620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P2 (60x80)</a:t>
            </a:r>
            <a:endParaRPr lang="zh-CN" sz="90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Line 38"/>
          <p:cNvSpPr/>
          <p:nvPr/>
        </p:nvSpPr>
        <p:spPr>
          <a:xfrm>
            <a:off x="5905500" y="13525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E0245E"/>
            </a:solidFill>
          </a:ln>
        </p:spPr>
      </p:sp>
      <p:sp>
        <p:nvSpPr>
          <p:cNvPr id="39" name="Line 39"/>
          <p:cNvSpPr/>
          <p:nvPr/>
        </p:nvSpPr>
        <p:spPr>
          <a:xfrm>
            <a:off x="7143750" y="13525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E0245E"/>
            </a:solidFill>
          </a:ln>
        </p:spPr>
      </p:sp>
      <p:sp>
        <p:nvSpPr>
          <p:cNvPr id="40" name="Line 40"/>
          <p:cNvSpPr/>
          <p:nvPr/>
        </p:nvSpPr>
        <p:spPr>
          <a:xfrm flipH="1">
            <a:off x="8274685" y="1352550"/>
            <a:ext cx="113665" cy="908050"/>
          </a:xfrm>
          <a:custGeom>
            <a:avLst/>
            <a:gdLst/>
            <a:ahLst/>
            <a:cxnLst/>
            <a:rect l="l" t="t" r="r" b="b"/>
            <a:pathLst>
              <a:path w="9525" h="1123950">
                <a:moveTo>
                  <a:pt x="0" y="0"/>
                </a:moveTo>
                <a:lnTo>
                  <a:pt x="0" y="1123950"/>
                </a:lnTo>
              </a:path>
            </a:pathLst>
          </a:custGeom>
          <a:noFill/>
          <a:ln w="19050">
            <a:solidFill>
              <a:srgbClr val="E0245E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5595620" y="1619250"/>
            <a:ext cx="1705610" cy="381000"/>
          </a:xfrm>
          <a:prstGeom prst="rect">
            <a:avLst/>
          </a:prstGeom>
          <a:noFill/>
          <a:ln w="19050">
            <a:solidFill>
              <a:srgbClr val="E0245E"/>
            </a:solidFill>
            <a:prstDash val="dash"/>
          </a:ln>
        </p:spPr>
      </p:sp>
      <p:sp>
        <p:nvSpPr>
          <p:cNvPr id="42" name="TextBox 42"/>
          <p:cNvSpPr txBox="1"/>
          <p:nvPr/>
        </p:nvSpPr>
        <p:spPr>
          <a:xfrm>
            <a:off x="5595509" y="1712595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1x1 Conv 32ch + upsample</a:t>
            </a:r>
            <a:endParaRPr lang="zh-CN" sz="900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764173" y="1871662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P4 up → concat P3</a:t>
            </a:r>
            <a:endParaRPr lang="zh-CN" sz="7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Line 44"/>
          <p:cNvSpPr/>
          <p:nvPr/>
        </p:nvSpPr>
        <p:spPr>
          <a:xfrm flipH="1">
            <a:off x="6200775" y="2000250"/>
            <a:ext cx="187960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9050">
            <a:solidFill>
              <a:srgbClr val="E0245E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5429250" y="2238375"/>
            <a:ext cx="3266440" cy="381000"/>
          </a:xfrm>
          <a:prstGeom prst="rect">
            <a:avLst/>
          </a:prstGeom>
          <a:noFill/>
          <a:ln w="19050">
            <a:solidFill>
              <a:srgbClr val="E0245E"/>
            </a:solidFill>
            <a:prstDash val="dash"/>
          </a:ln>
        </p:spPr>
      </p:sp>
      <p:sp>
        <p:nvSpPr>
          <p:cNvPr id="46" name="TextBox 46"/>
          <p:cNvSpPr txBox="1"/>
          <p:nvPr/>
        </p:nvSpPr>
        <p:spPr>
          <a:xfrm>
            <a:off x="5766435" y="233172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3x3 Conv 32ch + upsample → concat P2</a:t>
            </a:r>
            <a:endParaRPr lang="zh-CN" sz="900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063377" y="2490788"/>
            <a:ext cx="15892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P4语义(P2细节(边缘) → 一张 mask</a:t>
            </a:r>
            <a:endParaRPr lang="zh-CN" sz="7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Line 48"/>
          <p:cNvSpPr/>
          <p:nvPr/>
        </p:nvSpPr>
        <p:spPr>
          <a:xfrm>
            <a:off x="6858000" y="26193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9050">
            <a:solidFill>
              <a:srgbClr val="E0245E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5905500" y="2857500"/>
            <a:ext cx="1905000" cy="3429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108425" y="2971324"/>
            <a:ext cx="14991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1x1 Conv 1ch → Sigmoid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6858000" y="3200400"/>
            <a:ext cx="9525" cy="180975"/>
          </a:xfrm>
          <a:custGeom>
            <a:avLst/>
            <a:gdLst/>
            <a:ahLst/>
            <a:cxnLst/>
            <a:rect l="l" t="t" r="r" b="b"/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9050">
            <a:solidFill>
              <a:srgbClr val="E0245E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956449" y="3413760"/>
            <a:ext cx="18031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480 x 640 mask (单张)</a:t>
            </a:r>
            <a:endParaRPr lang="zh-CN" sz="120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5416868" y="3704749"/>
            <a:ext cx="42177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关键词: 密集逐像素 / 只能合成一张图 / 需要三层"商量"出一个统一结果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44855" y="4235768"/>
            <a:ext cx="33800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并行 vs 串行：根本原因是输出性质不同</a:t>
            </a:r>
            <a:endParaRPr lang="zh-CN" sz="135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762000" y="4591050"/>
            <a:ext cx="10668000" cy="3048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224915" y="46777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维度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3320415" y="4677728"/>
            <a:ext cx="11734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FCOS (并行独立)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082915" y="4677728"/>
            <a:ext cx="17835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Mask Decoder (串行融合)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Rectangle 59"/>
          <p:cNvSpPr/>
          <p:nvPr/>
        </p:nvSpPr>
        <p:spPr>
          <a:xfrm>
            <a:off x="762000" y="4895850"/>
            <a:ext cx="10668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225868" y="497157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输出类型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3321368" y="4971574"/>
            <a:ext cx="1857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稀疏结构化: 4个坐标 + 1个分类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8083868" y="4971574"/>
            <a:ext cx="18449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密集逐像素: 480x640 个概率值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Rectangle 63"/>
          <p:cNvSpPr/>
          <p:nvPr/>
        </p:nvSpPr>
        <p:spPr>
          <a:xfrm>
            <a:off x="762000" y="5162550"/>
            <a:ext cx="10668000" cy="2667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225868" y="523827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三层如何处理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3321368" y="5238274"/>
            <a:ext cx="22740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各层独立预测，NMS 合并 → 可重叠存在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8083868" y="5238274"/>
            <a:ext cx="20465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P4语义(P3形状(P2边缘 → 逐级统一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Rectangle 67"/>
          <p:cNvSpPr/>
          <p:nvPr/>
        </p:nvSpPr>
        <p:spPr>
          <a:xfrm>
            <a:off x="762000" y="5429250"/>
            <a:ext cx="10668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1225868" y="550497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推理行为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3321368" y="5504974"/>
            <a:ext cx="1727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丢弃 (Backbone 已学会定位)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8083868" y="5504974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丢弃 (Backbone 已学会识别透明物)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Rectangle 71"/>
          <p:cNvSpPr/>
          <p:nvPr/>
        </p:nvSpPr>
        <p:spPr>
          <a:xfrm>
            <a:off x="762000" y="59055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748665" y="6077902"/>
            <a:ext cx="12798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检测+Mask分支详解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11082528" y="609409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249555"/>
            <a:ext cx="85804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组核心实验覆盖 2 个数据集 x 3 个模型版本，训练参数统一控制</a:t>
            </a:r>
            <a:endParaRPr lang="zh-CN" sz="21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714375"/>
            <a:ext cx="10668000" cy="3048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35368" y="809149"/>
            <a:ext cx="1408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ID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11618" y="809149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数据集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07118" y="80914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模型版本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893118" y="809149"/>
            <a:ext cx="74676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训练命令</a:t>
            </a:r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参数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762000" y="1019175"/>
            <a:ext cx="10668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62000" y="1019175"/>
            <a:ext cx="38100" cy="2667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5368" y="1085374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</a:t>
            </a:r>
            <a:endParaRPr lang="zh-CN" sz="975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11618" y="1085374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 (无力感, 6dim)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607118" y="1085374"/>
            <a:ext cx="5383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标准 ACT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94070" y="1093470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--policy.type=act</a:t>
            </a:r>
            <a:endParaRPr lang="zh-CN" sz="900" dirty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762000" y="1285875"/>
            <a:ext cx="10668000" cy="2667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35368" y="1352074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</a:t>
            </a:r>
            <a:endParaRPr lang="zh-CN" sz="975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11618" y="1352074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 (无力感, 6dim)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607118" y="1352074"/>
            <a:ext cx="856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论文版 (检测)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894070" y="1360170"/>
            <a:ext cx="34012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--policy.type=act_det --policy.use_mask_guidance=false</a:t>
            </a:r>
            <a:endParaRPr lang="zh-CN" sz="900" dirty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762000" y="1552575"/>
            <a:ext cx="10668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62000" y="1552575"/>
            <a:ext cx="38100" cy="2667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5368" y="1618774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E3</a:t>
            </a:r>
            <a:endParaRPr lang="zh-CN" sz="975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511618" y="1618774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 (无力感, 6dim)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607118" y="1618774"/>
            <a:ext cx="746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检测 + Mask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894070" y="1626870"/>
            <a:ext cx="33652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--policy.type=act_det --policy.use_mask_guidance=true</a:t>
            </a:r>
            <a:endParaRPr lang="zh-CN" sz="900" dirty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762000" y="1857375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62000" y="1905000"/>
            <a:ext cx="10668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762000" y="1905000"/>
            <a:ext cx="38100" cy="2667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35368" y="197119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A5E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E4</a:t>
            </a:r>
            <a:endParaRPr lang="zh-CN" sz="975" b="1" dirty="0">
              <a:solidFill>
                <a:srgbClr val="0EA5E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511618" y="1971199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 (有力感, 9dim)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607118" y="1971199"/>
            <a:ext cx="5383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标准 ACT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894070" y="197929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--policy.type=act</a:t>
            </a:r>
            <a:endParaRPr lang="zh-CN" sz="900" dirty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762000" y="2171700"/>
            <a:ext cx="10668000" cy="2667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35368" y="223789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A5E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E5</a:t>
            </a:r>
            <a:endParaRPr lang="zh-CN" sz="975" b="1" dirty="0">
              <a:solidFill>
                <a:srgbClr val="0EA5E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511618" y="2237899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 (有力感, 9dim)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607118" y="2237899"/>
            <a:ext cx="856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论文版 (检测)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894070" y="2245995"/>
            <a:ext cx="34012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--policy.type=act_det --policy.use_mask_guidance=false</a:t>
            </a:r>
            <a:endParaRPr lang="zh-CN" sz="900" dirty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762000" y="2438400"/>
            <a:ext cx="106680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762000" y="2438400"/>
            <a:ext cx="38100" cy="2667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35368" y="250459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E6</a:t>
            </a:r>
            <a:endParaRPr lang="zh-CN" sz="975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511618" y="2504599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 (有力感, 9dim)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607118" y="2504599"/>
            <a:ext cx="746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检测 + Mask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894070" y="2512695"/>
            <a:ext cx="33652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--policy.type=act_det --policy.use_mask_guidance=true</a:t>
            </a:r>
            <a:endParaRPr lang="zh-CN" sz="900" dirty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746760" y="3013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统一训练参数</a:t>
            </a:r>
            <a:endParaRPr lang="zh-CN" sz="12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Rectangle 53"/>
          <p:cNvSpPr/>
          <p:nvPr/>
        </p:nvSpPr>
        <p:spPr>
          <a:xfrm>
            <a:off x="762000" y="3286125"/>
            <a:ext cx="10668000" cy="2857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35368" y="3371374"/>
            <a:ext cx="82612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steps=120,000 / batch=8 / chunk=100 / dim_model=512 / latent_dim=32 / lr=1e-5 / kl_weight=10 / det_weight=10 / mask_weight=1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746760" y="3728085"/>
            <a:ext cx="16764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评价指标：</a:t>
            </a:r>
            <a:r>
              <a:rPr lang="zh-CN" sz="12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三阶段成功率</a:t>
            </a:r>
            <a:endParaRPr lang="zh-CN" sz="12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762000" y="4048125"/>
            <a:ext cx="5915025" cy="28575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225868" y="41333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3035618" y="41333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度量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4940618" y="41333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依赖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Rectangle 61"/>
          <p:cNvSpPr/>
          <p:nvPr/>
        </p:nvSpPr>
        <p:spPr>
          <a:xfrm>
            <a:off x="762000" y="4333875"/>
            <a:ext cx="5915025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225868" y="4381024"/>
            <a:ext cx="7268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抓取杯子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035618" y="4381024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成功抓取 / 30 测试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4940618" y="4381024"/>
            <a:ext cx="284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独立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Rectangle 66"/>
          <p:cNvSpPr/>
          <p:nvPr/>
        </p:nvSpPr>
        <p:spPr>
          <a:xfrm>
            <a:off x="762000" y="4562475"/>
            <a:ext cx="5915025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1225868" y="4609624"/>
            <a:ext cx="7268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移动杯子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3035618" y="4609624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成功移送 / 30 测试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4940618" y="4609624"/>
            <a:ext cx="4668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1成功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Rectangle 71"/>
          <p:cNvSpPr/>
          <p:nvPr/>
        </p:nvSpPr>
        <p:spPr>
          <a:xfrm>
            <a:off x="762000" y="4791075"/>
            <a:ext cx="5915025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225868" y="4838224"/>
            <a:ext cx="7268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 放下杯子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3035618" y="4838224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成功放置 / 30 测试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4940618" y="4838224"/>
            <a:ext cx="4668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2成功</a:t>
            </a:r>
            <a:endParaRPr lang="zh-CN" sz="975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746760" y="5299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对比维度</a:t>
            </a:r>
            <a:endParaRPr lang="zh-CN" sz="12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7" name="Rectangle 77"/>
          <p:cNvSpPr/>
          <p:nvPr/>
        </p:nvSpPr>
        <p:spPr>
          <a:xfrm>
            <a:off x="762000" y="5600700"/>
            <a:ext cx="3429000" cy="3429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448038" y="5696902"/>
            <a:ext cx="2056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E2-E1, E5-E4 → 检测的增量贡献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9" name="Rectangle 79"/>
          <p:cNvSpPr/>
          <p:nvPr/>
        </p:nvSpPr>
        <p:spPr>
          <a:xfrm>
            <a:off x="4381500" y="5600700"/>
            <a:ext cx="3429000" cy="3429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5039535" y="5696902"/>
            <a:ext cx="21129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E3-E2, E6-E5 → Mask的增量贡献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1" name="Rectangle 81"/>
          <p:cNvSpPr/>
          <p:nvPr/>
        </p:nvSpPr>
        <p:spPr>
          <a:xfrm>
            <a:off x="8001000" y="5600700"/>
            <a:ext cx="3429000" cy="3429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8799052" y="5696902"/>
            <a:ext cx="18328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E4-E1 → 力感信号的基线提升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3" name="Rectangle 83"/>
          <p:cNvSpPr/>
          <p:nvPr/>
        </p:nvSpPr>
        <p:spPr>
          <a:xfrm>
            <a:off x="762000" y="60960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748665" y="6268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实验计划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1082528" y="628459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297180"/>
            <a:ext cx="37338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实验数据决定后续</a:t>
            </a:r>
            <a:r>
              <a:rPr lang="zh-CN" sz="21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调整的优先级</a:t>
            </a:r>
            <a:endParaRPr lang="zh-CN" sz="21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4855" y="806768"/>
            <a:ext cx="38809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6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根据 E1-E6 的实验失败模式，决定下一步方向</a:t>
            </a:r>
            <a:endParaRPr lang="zh-CN" sz="1350" b="1" dirty="0">
              <a:solidFill>
                <a:srgbClr val="1A56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762000" y="1238250"/>
            <a:ext cx="5143500" cy="1619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238250"/>
            <a:ext cx="5143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2510" y="1413510"/>
            <a:ext cx="25675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路径 A: 杯子定位不准 (位置偏差)</a:t>
            </a:r>
            <a:endParaRPr lang="zh-CN" sz="1200" b="1" dirty="0">
              <a:solidFill>
                <a:srgbClr val="10B98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4415" y="1696402"/>
            <a:ext cx="2287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抓取位置偏移 → 夹爪未对准杯子中心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4415" y="1934528"/>
            <a:ext cx="29250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优化 Mask Decoder 或检查 SAM2 Mask 质量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4415" y="2267902"/>
            <a:ext cx="2974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调整 mask_weight / 双视角Mask / 更多标注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5368" y="258079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直接优化现有模块，无需引入新创新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6286500" y="1238250"/>
            <a:ext cx="5143500" cy="1619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86500" y="1238250"/>
            <a:ext cx="5143500" cy="38100"/>
          </a:xfrm>
          <a:prstGeom prst="rect">
            <a:avLst/>
          </a:prstGeom>
          <a:solidFill>
            <a:srgbClr val="E024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557010" y="1413510"/>
            <a:ext cx="29889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路径 B: 接触判断延迟（力控与视觉的</a:t>
            </a:r>
            <a:r>
              <a:rPr lang="zh-CN" sz="1200" b="1" dirty="0">
                <a:solidFill>
                  <a:srgbClr val="E024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延迟）</a:t>
            </a:r>
            <a:endParaRPr lang="zh-CN" sz="1200" b="1" dirty="0">
              <a:solidFill>
                <a:srgbClr val="E024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58915" y="1696402"/>
            <a:ext cx="26660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夹爪已接触杯壁 → 模型未感知 → 滑落/捏碎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558915" y="1934528"/>
            <a:ext cx="463867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实现 创新2: Visual-Force Fusion（防止力控</a:t>
            </a:r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信息</a:t>
            </a:r>
            <a:r>
              <a:rPr lang="zh-CN" altLang="en-US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被 600 个视觉 </a:t>
            </a:r>
            <a:r>
              <a:rPr lang="en-US" alt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token </a:t>
            </a:r>
            <a:r>
              <a:rPr lang="zh-CN" altLang="en-US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稀释</a:t>
            </a:r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）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58915" y="2172652"/>
            <a:ext cx="437578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Force Token（</a:t>
            </a:r>
            <a:r>
              <a:rPr lang="zh-CN" altLang="en-US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力感信号提取为独立 </a:t>
            </a:r>
            <a:r>
              <a:rPr lang="en-US" alt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Force Token</a:t>
            </a:r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） + Cross-Attention 融合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558915" y="241077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力感训练仅需自动采集，无额外标注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559868" y="2580799"/>
            <a:ext cx="26250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力感数据在数据集中已自动记录，无标注成本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762000" y="3143250"/>
            <a:ext cx="5143500" cy="1619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62000" y="3143250"/>
            <a:ext cx="51435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32510" y="3318510"/>
            <a:ext cx="3446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路径 C: 抓取力度不适（不同水量使用不同的</a:t>
            </a:r>
            <a:r>
              <a:rPr lang="zh-CN" sz="120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力度）</a:t>
            </a:r>
            <a:endParaRPr lang="zh-CN" sz="1200" b="1" dirty="0">
              <a:solidFill>
                <a:srgbClr val="F59E0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34415" y="3601402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不同水量 → 夹持力度固定 → 不适应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34415" y="3839528"/>
            <a:ext cx="2189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实现 创新3: Hybrid Action Head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34415" y="4077652"/>
            <a:ext cx="481901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位置头 + 力控头双路输出（</a:t>
            </a:r>
            <a:r>
              <a:rPr lang="zh-CN" altLang="en-US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根据视觉输入（水量、杯子位置）自动调节夹持力度</a:t>
            </a:r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）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34415" y="4315778"/>
            <a:ext cx="30580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力控标签: master_gripper.pos - gripper.pos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35368" y="4485799"/>
            <a:ext cx="21570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仅数据集B (有力感9dim) 可跑此创新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6286500" y="3143250"/>
            <a:ext cx="5143500" cy="1619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286500" y="3143250"/>
            <a:ext cx="5143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557010" y="3318510"/>
            <a:ext cx="33362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EA5E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路径 D: 水晃动/洒液（无法预测液体的运动</a:t>
            </a:r>
            <a:r>
              <a:rPr lang="zh-CN" sz="1200" b="1" dirty="0">
                <a:solidFill>
                  <a:srgbClr val="0EA5E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趋势）</a:t>
            </a:r>
            <a:endParaRPr lang="zh-CN" sz="1200" b="1" dirty="0">
              <a:solidFill>
                <a:srgbClr val="0EA5E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558915" y="3601402"/>
            <a:ext cx="24279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移动时水晃动 → 单帧无法预判运动趋势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558915" y="3839528"/>
            <a:ext cx="1979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实现 创新4: Frame Stacking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558915" y="4077652"/>
            <a:ext cx="447294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t, t-1, t-2 三帧堆叠 → 时序上下文（即将原本单帧的输入改为多帧</a:t>
            </a:r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拼接输入）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558915" y="4315778"/>
            <a:ext cx="22529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n_obs_steps=3, channel 维度拼接</a:t>
            </a:r>
            <a:endParaRPr lang="zh-CN" sz="10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559868" y="448579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无需额外数据/标注，自动帧组装</a:t>
            </a:r>
            <a:endParaRPr lang="zh-CN" sz="975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762000" y="59055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8665" y="607790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预期结论与决策门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016520" y="6094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954334" y="2245995"/>
            <a:ext cx="228333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感谢聆听</a:t>
            </a:r>
            <a:endParaRPr lang="zh-CN" sz="390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4191000" y="3524250"/>
            <a:ext cx="3810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209931" y="5315902"/>
            <a:ext cx="37721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LeRobot v3.0 · SO-ARM101 · Python 3.12 · PyTorch 2.x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84953" y="5554028"/>
            <a:ext cx="3422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GitHub: https://github.com/huggingface/lerobot</a:t>
            </a:r>
            <a:endParaRPr lang="zh-CN" sz="105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83545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 / 12</a:t>
            </a:r>
            <a:endParaRPr lang="zh-CN" sz="900" dirty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4824</Words>
  <Application>WPS 演示</Application>
  <PresentationFormat>On-screen Show (16:9)</PresentationFormat>
  <Paragraphs>537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千叶</cp:lastModifiedBy>
  <cp:revision>6</cp:revision>
  <dcterms:created xsi:type="dcterms:W3CDTF">2026-07-28T06:00:00Z</dcterms:created>
  <dcterms:modified xsi:type="dcterms:W3CDTF">2026-07-28T10:54:39Z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D1787AC1D90B459FAB4C34A17AC370E4_12</vt:lpwstr>
  </property>
</Properties>
</file>